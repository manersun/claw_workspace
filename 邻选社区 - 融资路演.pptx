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6B45"/>
                </a:solidFill>
              </a:defRPr>
            </a:pPr>
            <a:r>
              <a:t>邻选社区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商业计划书</a:t>
            </a:r>
          </a:p>
          <a:p/>
          <a:p>
            <a:r>
              <a:t>[你的姓名] | 创始人 &amp; CEO</a:t>
            </a:r>
          </a:p>
          <a:p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痛点与机会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消费者痛点：</a:t>
            </a:r>
          </a:p>
          <a:p>
            <a:pPr>
              <a:spcAft>
                <a:spcPts val="1200"/>
              </a:spcAft>
              <a:defRPr sz="2000"/>
            </a:pPr>
            <a:r>
              <a:t>  - 买菜贵：传统菜场加价 30-50%</a:t>
            </a:r>
          </a:p>
          <a:p>
            <a:pPr>
              <a:spcAft>
                <a:spcPts val="1200"/>
              </a:spcAft>
              <a:defRPr sz="2000"/>
            </a:pPr>
            <a:r>
              <a:t>  - 不新鲜：多层流通，到店已不新鲜</a:t>
            </a:r>
          </a:p>
          <a:p>
            <a:pPr>
              <a:spcAft>
                <a:spcPts val="1200"/>
              </a:spcAft>
              <a:defRPr sz="2000"/>
            </a:pPr>
            <a:r>
              <a:t>  - 浪费时间：下班绕路买菜，排队结账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市场机会：</a:t>
            </a:r>
          </a:p>
          <a:p>
            <a:pPr>
              <a:spcAft>
                <a:spcPts val="1200"/>
              </a:spcAft>
              <a:defRPr sz="2000"/>
            </a:pPr>
            <a:r>
              <a:t>  - 社区团购市场规模：2025 年预计 3000 亿</a:t>
            </a:r>
          </a:p>
          <a:p>
            <a:pPr>
              <a:spcAft>
                <a:spcPts val="1200"/>
              </a:spcAft>
              <a:defRPr sz="2000"/>
            </a:pPr>
            <a:r>
              <a:t>  - 渗透率仅 15%，仍有巨大增长空间</a:t>
            </a:r>
          </a:p>
          <a:p>
            <a:pPr>
              <a:spcAft>
                <a:spcPts val="1200"/>
              </a:spcAft>
              <a:defRPr sz="2000"/>
            </a:pPr>
            <a:r>
              <a:t>  - 后疫情时代，线上买菜已成习惯</a:t>
            </a:r>
          </a:p>
          <a:p>
            <a:pPr>
              <a:spcAft>
                <a:spcPts val="1200"/>
              </a:spcAft>
              <a:defRPr sz="2000"/>
            </a:pPr>
            <a:r>
              <a:t>  - 巨头收缩，区域玩家迎来机会窗口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邻选社区模式：</a:t>
            </a:r>
          </a:p>
          <a:p>
            <a:pPr>
              <a:spcAft>
                <a:spcPts val="1200"/>
              </a:spcAft>
              <a:defRPr sz="2000"/>
            </a:pPr>
            <a:r>
              <a:t>  产地/批发商 → 城市仓 → 社区团长 → 消费者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核心价值：</a:t>
            </a:r>
          </a:p>
          <a:p>
            <a:pPr>
              <a:spcAft>
                <a:spcPts val="1200"/>
              </a:spcAft>
              <a:defRPr sz="2000"/>
            </a:pPr>
            <a:r>
              <a:t>  - 消费者：便宜 30% + 新鲜 + 送货上门</a:t>
            </a:r>
          </a:p>
          <a:p>
            <a:pPr>
              <a:spcAft>
                <a:spcPts val="1200"/>
              </a:spcAft>
              <a:defRPr sz="2000"/>
            </a:pPr>
            <a:r>
              <a:t>  - 团长：佣金收入 10-15% + 零成本创业</a:t>
            </a:r>
          </a:p>
          <a:p>
            <a:pPr>
              <a:spcAft>
                <a:spcPts val="1200"/>
              </a:spcAft>
              <a:defRPr sz="2000"/>
            </a:pPr>
            <a:r>
              <a:t>  - 供应商：稳定订单 + 降低损耗 + 快速回款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差异化亮点：</a:t>
            </a:r>
          </a:p>
          <a:p>
            <a:pPr>
              <a:spcAft>
                <a:spcPts val="1200"/>
              </a:spcAft>
              <a:defRPr sz="2000"/>
            </a:pPr>
            <a:r>
              <a:t>  - 精选 SKU：200 个高频爆品</a:t>
            </a:r>
          </a:p>
          <a:p>
            <a:pPr>
              <a:spcAft>
                <a:spcPts val="1200"/>
              </a:spcAft>
              <a:defRPr sz="2000"/>
            </a:pPr>
            <a:r>
              <a:t>  - 品质管控：坏果包赔，24 小时售后</a:t>
            </a:r>
          </a:p>
          <a:p>
            <a:pPr>
              <a:spcAft>
                <a:spcPts val="1200"/>
              </a:spcAft>
              <a:defRPr sz="2000"/>
            </a:pPr>
            <a:r>
              <a:t>  - 邻里社交：拼团 + 分享，增强粘性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市场规模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TAM (总可服务市场)：</a:t>
            </a:r>
          </a:p>
          <a:p>
            <a:pPr>
              <a:spcAft>
                <a:spcPts val="1200"/>
              </a:spcAft>
              <a:defRPr sz="2000"/>
            </a:pPr>
            <a:r>
              <a:t>  - 中国生鲜零售市场：5.8 万亿/年</a:t>
            </a:r>
          </a:p>
          <a:p>
            <a:pPr>
              <a:spcAft>
                <a:spcPts val="1200"/>
              </a:spcAft>
              <a:defRPr sz="2000"/>
            </a:pPr>
            <a:r>
              <a:t>  - 社区团购可渗透市场：8000 亿/年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SAM (可服务市场)：</a:t>
            </a:r>
          </a:p>
          <a:p>
            <a:pPr>
              <a:spcAft>
                <a:spcPts val="1200"/>
              </a:spcAft>
              <a:defRPr sz="2000"/>
            </a:pPr>
            <a:r>
              <a:t>  - 目标城市（一线 + 新一线）：3000 亿/年</a:t>
            </a:r>
          </a:p>
          <a:p>
            <a:pPr>
              <a:spcAft>
                <a:spcPts val="1200"/>
              </a:spcAft>
              <a:defRPr sz="2000"/>
            </a:pPr>
            <a:r>
              <a:t>  - 目标用户：25-45 岁家庭采购决策者 1.2 亿人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SOM (可获得市场)：</a:t>
            </a:r>
          </a:p>
          <a:p>
            <a:pPr>
              <a:spcAft>
                <a:spcPts val="1200"/>
              </a:spcAft>
              <a:defRPr sz="2000"/>
            </a:pPr>
            <a:r>
              <a:t>  - 3 年目标：覆盖 10 个城市，50 亿 GMV/年</a:t>
            </a:r>
          </a:p>
          <a:p>
            <a:pPr>
              <a:spcAft>
                <a:spcPts val="1200"/>
              </a:spcAft>
              <a:defRPr sz="2000"/>
            </a:pPr>
            <a:r>
              <a:t>  - 市占率目标：目标城市的 3-5%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商业模式 - 成本结构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商品成本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75-80%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团长佣金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10-12%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物流配送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5-8%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运营人力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3-5%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技术&amp;其他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2-3%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竞争优势 - vs 美团优选/多多买菜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巨头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邻选社区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SKU 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200 精选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品质管控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标准化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本地化严选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团长管理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弱管控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强培训 + 激励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售后响应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48h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24h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决策速度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快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本地供应链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弱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强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运营策略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冷启动计划（0-3 个月）：</a:t>
            </a:r>
          </a:p>
          <a:p>
            <a:pPr>
              <a:spcAft>
                <a:spcPts val="1200"/>
              </a:spcAft>
              <a:defRPr sz="2000"/>
            </a:pPr>
            <a:r>
              <a:t>  - 选择 3 个标杆小区试点</a:t>
            </a:r>
          </a:p>
          <a:p>
            <a:pPr>
              <a:spcAft>
                <a:spcPts val="1200"/>
              </a:spcAft>
              <a:defRPr sz="2000"/>
            </a:pPr>
            <a:r>
              <a:t>  - 招募 30 个种子团长（宝妈/便利店主）</a:t>
            </a:r>
          </a:p>
          <a:p>
            <a:pPr>
              <a:spcAft>
                <a:spcPts val="1200"/>
              </a:spcAft>
              <a:defRPr sz="2000"/>
            </a:pPr>
            <a:r>
              <a:t>  - 打磨 50 个核心 SKU</a:t>
            </a:r>
          </a:p>
          <a:p>
            <a:pPr>
              <a:spcAft>
                <a:spcPts val="1200"/>
              </a:spcAft>
              <a:defRPr sz="2000"/>
            </a:pPr>
            <a:r>
              <a:t>  - 验证单仓模型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扩张节奏（4-12 个月）：</a:t>
            </a:r>
          </a:p>
          <a:p>
            <a:pPr>
              <a:spcAft>
                <a:spcPts val="1200"/>
              </a:spcAft>
              <a:defRPr sz="2000"/>
            </a:pPr>
            <a:r>
              <a:t>  - 月新增 5-8 个社区</a:t>
            </a:r>
          </a:p>
          <a:p>
            <a:pPr>
              <a:spcAft>
                <a:spcPts val="1200"/>
              </a:spcAft>
              <a:defRPr sz="2000"/>
            </a:pPr>
            <a:r>
              <a:t>  - 团长总数达 200 人</a:t>
            </a:r>
          </a:p>
          <a:p>
            <a:pPr>
              <a:spcAft>
                <a:spcPts val="1200"/>
              </a:spcAft>
              <a:defRPr sz="2000"/>
            </a:pPr>
            <a:r>
              <a:t>  - 覆盖 50 个小区</a:t>
            </a:r>
          </a:p>
          <a:p>
            <a:pPr>
              <a:spcAft>
                <a:spcPts val="1200"/>
              </a:spcAft>
              <a:defRPr sz="2000"/>
            </a:pPr>
            <a:r>
              <a:t>  - 日 GMV 突破 50 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财务预测（三年）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第 1 年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第 2 年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第 3 年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6,000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30,000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80,000 万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营收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1,200 万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6,000 万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16,000 万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毛利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240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1,200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3,200 万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运营成本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400 万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1,000 万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2,400 万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净利润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-160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800 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团队介绍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• 创始人 &amp; CEO - [你的名字]</a:t>
            </a:r>
          </a:p>
          <a:p>
            <a:pPr>
              <a:spcAft>
                <a:spcPts val="1200"/>
              </a:spcAft>
              <a:defRPr sz="2000"/>
            </a:pPr>
            <a:r>
              <a:t>  [待补充：相关背景]</a:t>
            </a:r>
          </a:p>
          <a:p>
            <a:pPr>
              <a:spcAft>
                <a:spcPts val="1200"/>
              </a:spcAft>
              <a:defRPr sz="2000"/>
            </a:pPr>
            <a:r>
              <a:t>  擅长：战略规划、资源整合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联合创始人 &amp; COO - [待招募]</a:t>
            </a:r>
          </a:p>
          <a:p>
            <a:pPr>
              <a:spcAft>
                <a:spcPts val="1200"/>
              </a:spcAft>
              <a:defRPr sz="2000"/>
            </a:pPr>
            <a:r>
              <a:t>  目标背景：生鲜/零售运营经验</a:t>
            </a:r>
          </a:p>
          <a:p>
            <a:pPr>
              <a:spcAft>
                <a:spcPts val="1200"/>
              </a:spcAft>
              <a:defRPr sz="2000"/>
            </a:pPr>
            <a:r>
              <a:t>  擅长：供应链管理、团队管理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• 技术负责人 - [待招募]</a:t>
            </a:r>
          </a:p>
          <a:p>
            <a:pPr>
              <a:spcAft>
                <a:spcPts val="1200"/>
              </a:spcAft>
              <a:defRPr sz="2000"/>
            </a:pPr>
            <a:r>
              <a:t>  目标背景：电商平台技术经验</a:t>
            </a:r>
          </a:p>
          <a:p>
            <a:pPr>
              <a:spcAft>
                <a:spcPts val="1200"/>
              </a:spcAft>
              <a:defRPr sz="2000"/>
            </a:pPr>
            <a:r>
              <a:t>  擅长：系统架构、数据驱动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💡 投资人提示：团队是早期投资的核心</a:t>
            </a:r>
          </a:p>
          <a:p>
            <a:pPr>
              <a:spcAft>
                <a:spcPts val="1200"/>
              </a:spcAft>
              <a:defRPr sz="2000"/>
            </a:pPr>
            <a:r>
              <a:t>   建议尽快补齐运营和技术合伙人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融资计划 - 天使轮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详情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融资金额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300-500 万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出让股份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15-20%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2000-2500 万（投前）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资金用途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供应链 40% / 团队 20% / 技术 15% / 市场 15% / 备用 10%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退出路径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 年并购 / 5 年 IPO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里程碑（融资后 12 个月）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2DA06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完成团队搭建，3 个试点小区运营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M4-6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验证单仓模型，扩展至 15 个小区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覆盖 50 个小区，日 GMV 30 万+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M10-12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启动 Pre-A 轮融资，准备城市扩张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6B45"/>
                </a:solidFill>
              </a:defRPr>
            </a:pPr>
            <a:r>
              <a:t>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邻选社区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📧 邮箱：[你的邮箱]</a:t>
            </a:r>
          </a:p>
          <a:p>
            <a:pPr>
              <a:spcAft>
                <a:spcPts val="1200"/>
              </a:spcAft>
              <a:defRPr sz="2000"/>
            </a:pPr>
            <a:r>
              <a:t>📱 电话：[你的电话]</a:t>
            </a:r>
          </a:p>
          <a:p>
            <a:pPr>
              <a:spcAft>
                <a:spcPts val="1200"/>
              </a:spcAft>
              <a:defRPr sz="2000"/>
            </a:pPr>
            <a:r>
              <a:t>📍 地址：[公司地址]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感谢聆听！</a:t>
            </a:r>
          </a:p>
          <a:p>
            <a:pPr>
              <a:spcAft>
                <a:spcPts val="1200"/>
              </a:spcAft>
              <a:defRPr sz="2000"/>
            </a:pPr>
            <a:r>
              <a:t>期待与您携手共创美好社区生活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