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OpenClaw 技术分享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下一代 AI Agent 网关架构</a:t>
            </a:r>
          </a:p>
          <a:p/>
          <a:p>
            <a:r>
              <a:t>面向后台研发工程师</a:t>
            </a:r>
          </a:p>
          <a:p>
            <a:r>
              <a:t>2026 年 03 月 07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1. OpenClaw 简介与发展历程</a:t>
            </a:r>
          </a:p>
          <a:p>
            <a:pPr>
              <a:spcAft>
                <a:spcPts val="1200"/>
              </a:spcAft>
              <a:defRPr sz="2200"/>
            </a:pPr>
            <a:r>
              <a:t>2. 与竞品的差异化优势</a:t>
            </a:r>
          </a:p>
          <a:p>
            <a:pPr>
              <a:spcAft>
                <a:spcPts val="1200"/>
              </a:spcAft>
              <a:defRPr sz="2200"/>
            </a:pPr>
            <a:r>
              <a:t>3. 系统架构与核心功能</a:t>
            </a:r>
          </a:p>
          <a:p>
            <a:pPr>
              <a:spcAft>
                <a:spcPts val="1200"/>
              </a:spcAft>
              <a:defRPr sz="2200"/>
            </a:pPr>
            <a:r>
              <a:t>4. 核心组件详解（Skills/Plugins）</a:t>
            </a:r>
          </a:p>
          <a:p>
            <a:pPr>
              <a:spcAft>
                <a:spcPts val="1200"/>
              </a:spcAft>
              <a:defRPr sz="2200"/>
            </a:pPr>
            <a:r>
              <a:t>5. Quick Start 与常用命令</a:t>
            </a:r>
          </a:p>
          <a:p>
            <a:pPr>
              <a:spcAft>
                <a:spcPts val="1200"/>
              </a:spcAft>
              <a:defRPr sz="2200"/>
            </a:pPr>
            <a:r>
              <a:t>6. 实战案例分享</a:t>
            </a:r>
          </a:p>
          <a:p>
            <a:pPr>
              <a:spcAft>
                <a:spcPts val="1200"/>
              </a:spcAft>
              <a:defRPr sz="2200"/>
            </a:pPr>
            <a:r>
              <a:t>7. 未来发展方向</a:t>
            </a:r>
          </a:p>
          <a:p>
            <a:pPr>
              <a:spcAft>
                <a:spcPts val="1200"/>
              </a:spcAft>
              <a:defRPr sz="2200"/>
            </a:pPr>
            <a:r>
              <a:t>8. 参考文档与资源</a:t>
            </a:r>
          </a:p>
          <a:p>
            <a:pPr>
              <a:spcAft>
                <a:spcPts val="1200"/>
              </a:spcAft>
              <a:defRPr sz="2200"/>
            </a:pPr>
            <a:r>
              <a:t>9.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OpenClaw 简介与发展历程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OpenClaw？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定义：自托管的多渠道 AI Agent 网关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核心理念：</a:t>
            </a:r>
          </a:p>
          <a:p>
            <a:pPr lvl="1">
              <a:spcAft>
                <a:spcPts val="1200"/>
              </a:spcAft>
              <a:defRPr sz="2200"/>
            </a:pPr>
            <a:r>
              <a:t>• 一个网关连接所有聊天应用</a:t>
            </a:r>
          </a:p>
          <a:p>
            <a:pPr lvl="1">
              <a:spcAft>
                <a:spcPts val="1200"/>
              </a:spcAft>
              <a:defRPr sz="2200"/>
            </a:pPr>
            <a:r>
              <a:t>• 本地运行，数据自主可控</a:t>
            </a:r>
          </a:p>
          <a:p>
            <a:pPr lvl="1">
              <a:spcAft>
                <a:spcPts val="1200"/>
              </a:spcAft>
              <a:defRPr sz="2200"/>
            </a:pPr>
            <a:r>
              <a:t>• 为 AI Agent 原生设计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Slogan:</a:t>
            </a:r>
          </a:p>
          <a:p>
            <a:pPr lvl="1">
              <a:spcAft>
                <a:spcPts val="1200"/>
              </a:spcAft>
              <a:defRPr sz="2200"/>
            </a:pPr>
            <a:r>
              <a:t>"Any OS gateway for AI agents across</a:t>
            </a:r>
          </a:p>
          <a:p>
            <a:pPr lvl="1">
              <a:spcAft>
                <a:spcPts val="1200"/>
              </a:spcAft>
              <a:defRPr sz="2200"/>
            </a:pPr>
            <a:r>
              <a:t>WhatsApp, Telegram, Discord, iMessage, and more."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研发背景与动机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痛点：</a:t>
            </a:r>
          </a:p>
          <a:p>
            <a:pPr lvl="1">
              <a:spcAft>
                <a:spcPts val="1200"/>
              </a:spcAft>
              <a:defRPr sz="2200"/>
            </a:pPr>
            <a:r>
              <a:t>• 每个聊天平台需要独立的 Bot 实现</a:t>
            </a:r>
          </a:p>
          <a:p>
            <a:pPr lvl="1">
              <a:spcAft>
                <a:spcPts val="1200"/>
              </a:spcAft>
              <a:defRPr sz="2200"/>
            </a:pPr>
            <a:r>
              <a:t>• 云端服务数据隐私无法保障</a:t>
            </a:r>
          </a:p>
          <a:p>
            <a:pPr lvl="1">
              <a:spcAft>
                <a:spcPts val="1200"/>
              </a:spcAft>
              <a:defRPr sz="2200"/>
            </a:pPr>
            <a:r>
              <a:t>• 现有方案不支持复杂的 Agent 工作流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目标：</a:t>
            </a:r>
          </a:p>
          <a:p>
            <a:pPr lvl="1">
              <a:spcAft>
                <a:spcPts val="1200"/>
              </a:spcAft>
              <a:defRPr sz="2200"/>
            </a:pPr>
            <a:r>
              <a:t>• 统一的多渠道网关</a:t>
            </a:r>
          </a:p>
          <a:p>
            <a:pPr lvl="1">
              <a:spcAft>
                <a:spcPts val="1200"/>
              </a:spcAft>
              <a:defRPr sz="2200"/>
            </a:pPr>
            <a:r>
              <a:t>• 自托管，数据完全可控</a:t>
            </a:r>
          </a:p>
          <a:p>
            <a:pPr lvl="1">
              <a:spcAft>
                <a:spcPts val="1200"/>
              </a:spcAft>
              <a:defRPr sz="2200"/>
            </a:pPr>
            <a:r>
              <a:t>• 原生支持 AI Agent（工具调用、会话管理、多 Agent 路由）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研发团队：开源社区驱动</a:t>
            </a:r>
          </a:p>
          <a:p>
            <a:pPr>
              <a:spcAft>
                <a:spcPts val="1200"/>
              </a:spcAft>
              <a:defRPr sz="2200"/>
            </a:pPr>
            <a:r>
              <a:t>License：MIT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2024 年：项目启动</a:t>
            </a:r>
          </a:p>
          <a:p>
            <a:pPr lvl="1">
              <a:spcAft>
                <a:spcPts val="1200"/>
              </a:spcAft>
              <a:defRPr sz="2200"/>
            </a:pPr>
            <a:r>
              <a:t>• 初始版本支持 WhatsApp、Telegram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2025 年：快速发展</a:t>
            </a:r>
          </a:p>
          <a:p>
            <a:pPr lvl="1">
              <a:spcAft>
                <a:spcPts val="1200"/>
              </a:spcAft>
              <a:defRPr sz="2200"/>
            </a:pPr>
            <a:r>
              <a:t>• 增加 Discord、iMessage、Signal 等渠道</a:t>
            </a:r>
          </a:p>
          <a:p>
            <a:pPr lvl="1">
              <a:spcAft>
                <a:spcPts val="1200"/>
              </a:spcAft>
              <a:defRPr sz="2200"/>
            </a:pPr>
            <a:r>
              <a:t>• 引入 Skills 和 Plugins 系统</a:t>
            </a:r>
          </a:p>
          <a:p>
            <a:pPr lvl="1">
              <a:spcAft>
                <a:spcPts val="1200"/>
              </a:spcAft>
              <a:defRPr sz="2200"/>
            </a:pPr>
            <a:r>
              <a:t>• 推出 Control UI 和移动端 Node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2026 年（当前 v2026.3.2）：</a:t>
            </a:r>
          </a:p>
          <a:p>
            <a:pPr lvl="1">
              <a:spcAft>
                <a:spcPts val="1200"/>
              </a:spcAft>
              <a:defRPr sz="2200"/>
            </a:pPr>
            <a:r>
              <a:t>• 54+ 内置 Skills</a:t>
            </a:r>
          </a:p>
          <a:p>
            <a:pPr lvl="1">
              <a:spcAft>
                <a:spcPts val="1200"/>
              </a:spcAft>
              <a:defRPr sz="2200"/>
            </a:pPr>
            <a:r>
              <a:t>• 20+ 渠道支持</a:t>
            </a:r>
          </a:p>
          <a:p>
            <a:pPr lvl="1">
              <a:spcAft>
                <a:spcPts val="1200"/>
              </a:spcAft>
              <a:defRPr sz="2200"/>
            </a:pPr>
            <a:r>
              <a:t>• 完整的生态系统（ClawHub 技能市场）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GitHub: github.com/openclaw/openclaw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 OpenClaw 能爆火？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1. 自托管趋势</a:t>
            </a:r>
          </a:p>
          <a:p>
            <a:pPr lvl="1">
              <a:spcAft>
                <a:spcPts val="1200"/>
              </a:spcAft>
              <a:defRPr sz="2200"/>
            </a:pPr>
            <a:r>
              <a:t>• 数据隐私意识增强</a:t>
            </a:r>
          </a:p>
          <a:p>
            <a:pPr lvl="1">
              <a:spcAft>
                <a:spcPts val="1200"/>
              </a:spcAft>
              <a:defRPr sz="2200"/>
            </a:pPr>
            <a:r>
              <a:t>• 企业合规需求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2. AI Agent 爆发</a:t>
            </a:r>
          </a:p>
          <a:p>
            <a:pPr lvl="1">
              <a:spcAft>
                <a:spcPts val="1200"/>
              </a:spcAft>
              <a:defRPr sz="2200"/>
            </a:pPr>
            <a:r>
              <a:t>• 需要统一的接入层</a:t>
            </a:r>
          </a:p>
          <a:p>
            <a:pPr lvl="1">
              <a:spcAft>
                <a:spcPts val="1200"/>
              </a:spcAft>
              <a:defRPr sz="2200"/>
            </a:pPr>
            <a:r>
              <a:t>• 工具调用、会话管理成刚需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3. 多渠道整合</a:t>
            </a:r>
          </a:p>
          <a:p>
            <a:pPr lvl="1">
              <a:spcAft>
                <a:spcPts val="1200"/>
              </a:spcAft>
              <a:defRPr sz="2200"/>
            </a:pPr>
            <a:r>
              <a:t>• 一套代码服务所有平台</a:t>
            </a:r>
          </a:p>
          <a:p>
            <a:pPr lvl="1">
              <a:spcAft>
                <a:spcPts val="1200"/>
              </a:spcAft>
              <a:defRPr sz="2200"/>
            </a:pPr>
            <a:r>
              <a:t>• 降低开发和维护成本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4. 开源生态</a:t>
            </a:r>
          </a:p>
          <a:p>
            <a:pPr lvl="1">
              <a:spcAft>
                <a:spcPts val="1200"/>
              </a:spcAft>
              <a:defRPr sz="2200"/>
            </a:pPr>
            <a:r>
              <a:t>• 社区贡献 Skills/Plugins</a:t>
            </a:r>
          </a:p>
          <a:p>
            <a:pPr lvl="1">
              <a:spcAft>
                <a:spcPts val="1200"/>
              </a:spcAft>
              <a:defRPr sz="2200"/>
            </a:pPr>
            <a:r>
              <a:t>• 快速迭代，响应需求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与竞品的差异化优势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/>
            </a:pPr>
            <a:r>
              <a:t>竞品对比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/>
            </a:pPr>
            <a:r>
              <a:t>LangChain/LlamaIndex</a:t>
            </a:r>
            <a:br/>
            <a:r>
              <a:t>需要自己搭建网关和渠道集成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6692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开箱即用的多渠道网关</a:t>
            </a:r>
            <a:br/>
            <a:r>
              <a:t>内置 20+ 渠道支持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566928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/>
            </a:pPr>
            <a:r>
              <a:t>云端 Bot 服务</a:t>
            </a:r>
            <a:br/>
            <a:r>
              <a:t>数据存储在第三方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6692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自托管</a:t>
            </a:r>
            <a:br/>
            <a:r>
              <a:t>数据完全本地控制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566928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/>
            </a:pPr>
            <a:r>
              <a:t>单一渠道 Bot</a:t>
            </a:r>
            <a:br/>
            <a:r>
              <a:t>每个平台独立实现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6692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统一网关</a:t>
            </a:r>
            <a:br/>
            <a:r>
              <a:t>一次开发多端复用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566928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/>
            </a:pPr>
            <a:r>
              <a:t>基础对话功能</a:t>
            </a:r>
            <a:br/>
            <a:r>
              <a:t>缺少 Agent 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6692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Agent 原生</a:t>
            </a:r>
            <a:br/>
            <a:r>
              <a:t>工具调用/会话管理/多 Agent 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8229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❌ 其他 AI 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✅ OpenClaw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核心优势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🏠 自托管 (Self-hosted)</a:t>
            </a:r>
          </a:p>
          <a:p>
            <a:pPr lvl="1">
              <a:spcAft>
                <a:spcPts val="1200"/>
              </a:spcAft>
              <a:defRPr sz="2200"/>
            </a:pPr>
            <a:r>
              <a:t>• 运行在自己的硬件上</a:t>
            </a:r>
          </a:p>
          <a:p>
            <a:pPr lvl="1">
              <a:spcAft>
                <a:spcPts val="1200"/>
              </a:spcAft>
              <a:defRPr sz="2200"/>
            </a:pPr>
            <a:r>
              <a:t>• 数据不出内网</a:t>
            </a:r>
          </a:p>
          <a:p>
            <a:pPr lvl="1">
              <a:spcAft>
                <a:spcPts val="1200"/>
              </a:spcAft>
              <a:defRPr sz="2200"/>
            </a:pPr>
            <a:r>
              <a:t>• 完全可控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🔌 多渠道 (Multi-channel)</a:t>
            </a:r>
          </a:p>
          <a:p>
            <a:pPr lvl="1">
              <a:spcAft>
                <a:spcPts val="1200"/>
              </a:spcAft>
              <a:defRPr sz="2200"/>
            </a:pPr>
            <a:r>
              <a:t>• WhatsApp, Telegram, Discord, iMessage...</a:t>
            </a:r>
          </a:p>
          <a:p>
            <a:pPr lvl="1">
              <a:spcAft>
                <a:spcPts val="1200"/>
              </a:spcAft>
              <a:defRPr sz="2200"/>
            </a:pPr>
            <a:r>
              <a:t>• 单一网关进程</a:t>
            </a:r>
          </a:p>
          <a:p>
            <a:pPr lvl="1">
              <a:spcAft>
                <a:spcPts val="1200"/>
              </a:spcAft>
              <a:defRPr sz="2200"/>
            </a:pPr>
            <a:r>
              <a:t>• 统一配置管理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🤖 Agent 原生 (Agent-native)</a:t>
            </a:r>
          </a:p>
          <a:p>
            <a:pPr lvl="1">
              <a:spcAft>
                <a:spcPts val="1200"/>
              </a:spcAft>
              <a:defRPr sz="2200"/>
            </a:pPr>
            <a:r>
              <a:t>• 工具调用 (Tools)</a:t>
            </a:r>
          </a:p>
          <a:p>
            <a:pPr lvl="1">
              <a:spcAft>
                <a:spcPts val="1200"/>
              </a:spcAft>
              <a:defRPr sz="2200"/>
            </a:pPr>
            <a:r>
              <a:t>• 会话管理 (Sessions)</a:t>
            </a:r>
          </a:p>
          <a:p>
            <a:pPr lvl="1">
              <a:spcAft>
                <a:spcPts val="1200"/>
              </a:spcAft>
              <a:defRPr sz="2200"/>
            </a:pPr>
            <a:r>
              <a:t>• 多 Agent 路由 (Multi-agent routing)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📦 可扩展 (Extensible)</a:t>
            </a:r>
          </a:p>
          <a:p>
            <a:pPr lvl="1">
              <a:spcAft>
                <a:spcPts val="1200"/>
              </a:spcAft>
              <a:defRPr sz="2200"/>
            </a:pPr>
            <a:r>
              <a:t>• Skills 系统</a:t>
            </a:r>
          </a:p>
          <a:p>
            <a:pPr lvl="1">
              <a:spcAft>
                <a:spcPts val="1200"/>
              </a:spcAft>
              <a:defRPr sz="2200"/>
            </a:pPr>
            <a:r>
              <a:t>• Plugins 机制</a:t>
            </a:r>
          </a:p>
          <a:p>
            <a:pPr lvl="1">
              <a:spcAft>
                <a:spcPts val="1200"/>
              </a:spcAft>
              <a:defRPr sz="2200"/>
            </a:pPr>
            <a:r>
              <a:t>• ClawHub 生态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系统架构与核心功能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/>
            </a:pPr>
            <a:r>
              <a:t>OpenClaw 整体架构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3498D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渠道层 (Channels)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WhatsApp | Telegram | Discord | iMessage | Signal | Slack | 微信 (插件) | QQ (插件)...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DD4B3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网关层 (Gateway)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消息路由 | 会话管理 | 认证授权 | 配置管理 | 日志监控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47120" cy="1097280"/>
          </a:xfrm>
          <a:prstGeom prst="roundRect">
            <a:avLst/>
          </a:prstGeom>
          <a:solidFill>
            <a:srgbClr val="27AE6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Agent 层 (Pi Agent)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LLM 调用 | 工具执行 | 记忆管理 | 多 Agent 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212080"/>
            <a:ext cx="11247120" cy="1097280"/>
          </a:xfrm>
          <a:prstGeom prst="roundRect">
            <a:avLst/>
          </a:prstGeom>
          <a:solidFill>
            <a:srgbClr val="8E44A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接口层 (Interfaces)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CLI | Web Control UI | REST API | WebSocket RPC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1. 多渠道消息网关</a:t>
            </a:r>
          </a:p>
          <a:p>
            <a:pPr lvl="1">
              <a:spcAft>
                <a:spcPts val="1200"/>
              </a:spcAft>
              <a:defRPr sz="2200"/>
            </a:pPr>
            <a:r>
              <a:t>• 20+ 官方支持渠道</a:t>
            </a:r>
          </a:p>
          <a:p>
            <a:pPr lvl="1">
              <a:spcAft>
                <a:spcPts val="1200"/>
              </a:spcAft>
              <a:defRPr sz="2200"/>
            </a:pPr>
            <a:r>
              <a:t>• 插件扩展更多平台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2. Agent 运行时</a:t>
            </a:r>
          </a:p>
          <a:p>
            <a:pPr lvl="1">
              <a:spcAft>
                <a:spcPts val="1200"/>
              </a:spcAft>
              <a:defRPr sz="2200"/>
            </a:pPr>
            <a:r>
              <a:t>• 会话隔离 (每用户/每渠道)</a:t>
            </a:r>
          </a:p>
          <a:p>
            <a:pPr lvl="1">
              <a:spcAft>
                <a:spcPts val="1200"/>
              </a:spcAft>
              <a:defRPr sz="2200"/>
            </a:pPr>
            <a:r>
              <a:t>• 工具调用 (文件操作/搜索/自定义)</a:t>
            </a:r>
          </a:p>
          <a:p>
            <a:pPr lvl="1">
              <a:spcAft>
                <a:spcPts val="1200"/>
              </a:spcAft>
              <a:defRPr sz="2200"/>
            </a:pPr>
            <a:r>
              <a:t>• 记忆管理 (短期/长期)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3. 多 Agent 路由</a:t>
            </a:r>
          </a:p>
          <a:p>
            <a:pPr lvl="1">
              <a:spcAft>
                <a:spcPts val="1200"/>
              </a:spcAft>
              <a:defRPr sz="2200"/>
            </a:pPr>
            <a:r>
              <a:t>• 按技能路由到不同 Agent</a:t>
            </a:r>
          </a:p>
          <a:p>
            <a:pPr lvl="1">
              <a:spcAft>
                <a:spcPts val="1200"/>
              </a:spcAft>
              <a:defRPr sz="2200"/>
            </a:pPr>
            <a:r>
              <a:t>• 支持子 Agent (Sub-agents)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4. 媒体处理</a:t>
            </a:r>
          </a:p>
          <a:p>
            <a:pPr lvl="1">
              <a:spcAft>
                <a:spcPts val="1200"/>
              </a:spcAft>
              <a:defRPr sz="2200"/>
            </a:pPr>
            <a:r>
              <a:t>• 图片/音频/视频/文档</a:t>
            </a:r>
          </a:p>
          <a:p>
            <a:pPr lvl="1">
              <a:spcAft>
                <a:spcPts val="1200"/>
              </a:spcAft>
              <a:defRPr sz="2200"/>
            </a:pPr>
            <a:r>
              <a:t>• 自动转码和优化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5. 管理界面</a:t>
            </a:r>
          </a:p>
          <a:p>
            <a:pPr lvl="1">
              <a:spcAft>
                <a:spcPts val="1200"/>
              </a:spcAft>
              <a:defRPr sz="2200"/>
            </a:pPr>
            <a:r>
              <a:t>• Web Control UI</a:t>
            </a:r>
          </a:p>
          <a:p>
            <a:pPr lvl="1">
              <a:spcAft>
                <a:spcPts val="1200"/>
              </a:spcAft>
              <a:defRPr sz="2200"/>
            </a:pPr>
            <a:r>
              <a:t>• CLI 命令行</a:t>
            </a:r>
          </a:p>
          <a:p>
            <a:pPr lvl="1">
              <a:spcAft>
                <a:spcPts val="1200"/>
              </a:spcAft>
              <a:defRPr sz="2200"/>
            </a:pPr>
            <a:r>
              <a:t>• 实时监控和日志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人们都用 OpenClaw 做什么？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💬 个人 AI 助理</a:t>
            </a:r>
          </a:p>
          <a:p>
            <a:pPr lvl="1">
              <a:spcAft>
                <a:spcPts val="1200"/>
              </a:spcAft>
              <a:defRPr sz="2200"/>
            </a:pPr>
            <a:r>
              <a:t>• 微信/Telegram 随时对话</a:t>
            </a:r>
          </a:p>
          <a:p>
            <a:pPr lvl="1">
              <a:spcAft>
                <a:spcPts val="1200"/>
              </a:spcAft>
              <a:defRPr sz="2200"/>
            </a:pPr>
            <a:r>
              <a:t>• 问答/写作/编程辅助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👥 团队协作用 Bot</a:t>
            </a:r>
          </a:p>
          <a:p>
            <a:pPr lvl="1">
              <a:spcAft>
                <a:spcPts val="1200"/>
              </a:spcAft>
              <a:defRPr sz="2200"/>
            </a:pPr>
            <a:r>
              <a:t>• Slack/Discord 团队助手</a:t>
            </a:r>
          </a:p>
          <a:p>
            <a:pPr lvl="1">
              <a:spcAft>
                <a:spcPts val="1200"/>
              </a:spcAft>
              <a:defRPr sz="2200"/>
            </a:pPr>
            <a:r>
              <a:t>• 自动回复/知识库查询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🔧 自动化工作流</a:t>
            </a:r>
          </a:p>
          <a:p>
            <a:pPr lvl="1">
              <a:spcAft>
                <a:spcPts val="1200"/>
              </a:spcAft>
              <a:defRPr sz="2200"/>
            </a:pPr>
            <a:r>
              <a:t>• 定时任务 (Cron)</a:t>
            </a:r>
          </a:p>
          <a:p>
            <a:pPr lvl="1">
              <a:spcAft>
                <a:spcPts val="1200"/>
              </a:spcAft>
              <a:defRPr sz="2200"/>
            </a:pPr>
            <a:r>
              <a:t>• 事件触发 (Webhook)</a:t>
            </a:r>
          </a:p>
          <a:p>
            <a:pPr lvl="1">
              <a:spcAft>
                <a:spcPts val="1200"/>
              </a:spcAft>
              <a:defRPr sz="2200"/>
            </a:pPr>
            <a:r>
              <a:t>• 跨系统集成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📊 监控告警</a:t>
            </a:r>
          </a:p>
          <a:p>
            <a:pPr lvl="1">
              <a:spcAft>
                <a:spcPts val="1200"/>
              </a:spcAft>
              <a:defRPr sz="2200"/>
            </a:pPr>
            <a:r>
              <a:t>• 系统监控通知</a:t>
            </a:r>
          </a:p>
          <a:p>
            <a:pPr lvl="1">
              <a:spcAft>
                <a:spcPts val="1200"/>
              </a:spcAft>
              <a:defRPr sz="2200"/>
            </a:pPr>
            <a:r>
              <a:t>• 日志分析告警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🎯 垂直场景</a:t>
            </a:r>
          </a:p>
          <a:p>
            <a:pPr lvl="1">
              <a:spcAft>
                <a:spcPts val="1200"/>
              </a:spcAft>
              <a:defRPr sz="2200"/>
            </a:pPr>
            <a:r>
              <a:t>• 客服机器人</a:t>
            </a:r>
          </a:p>
          <a:p>
            <a:pPr lvl="1">
              <a:spcAft>
                <a:spcPts val="1200"/>
              </a:spcAft>
              <a:defRPr sz="2200"/>
            </a:pPr>
            <a:r>
              <a:t>• 数据分析助手</a:t>
            </a:r>
          </a:p>
          <a:p>
            <a:pPr lvl="1">
              <a:spcAft>
                <a:spcPts val="1200"/>
              </a:spcAft>
              <a:defRPr sz="2200"/>
            </a:pPr>
            <a:r>
              <a:t>• 代码 Review Bot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核心组件详解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什么是 Skills？</a:t>
            </a:r>
          </a:p>
          <a:p>
            <a:pPr lvl="1">
              <a:spcAft>
                <a:spcPts val="1200"/>
              </a:spcAft>
              <a:defRPr sz="2200"/>
            </a:pPr>
            <a:r>
              <a:t>• 模块化的技能包</a:t>
            </a:r>
          </a:p>
          <a:p>
            <a:pPr lvl="1">
              <a:spcAft>
                <a:spcPts val="1200"/>
              </a:spcAft>
              <a:defRPr sz="2200"/>
            </a:pPr>
            <a:r>
              <a:t>• 扩展 AI 能力的"说明书"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Skills 结构：</a:t>
            </a:r>
          </a:p>
          <a:p>
            <a:pPr lvl="1">
              <a:spcAft>
                <a:spcPts val="1200"/>
              </a:spcAft>
              <a:defRPr sz="2200"/>
            </a:pPr>
            <a:r>
              <a:t>SKILL.md (必需) - 技能说明和触发条件</a:t>
            </a:r>
          </a:p>
          <a:p>
            <a:pPr lvl="1">
              <a:spcAft>
                <a:spcPts val="1200"/>
              </a:spcAft>
              <a:defRPr sz="2200"/>
            </a:pPr>
            <a:r>
              <a:t>scripts/ (可选) - 可执行脚本</a:t>
            </a:r>
          </a:p>
          <a:p>
            <a:pPr lvl="1">
              <a:spcAft>
                <a:spcPts val="1200"/>
              </a:spcAft>
              <a:defRPr sz="2200"/>
            </a:pPr>
            <a:r>
              <a:t>references/ (可选) - 参考文档</a:t>
            </a:r>
          </a:p>
          <a:p>
            <a:pPr lvl="1">
              <a:spcAft>
                <a:spcPts val="1200"/>
              </a:spcAft>
              <a:defRPr sz="2200"/>
            </a:pPr>
            <a:r>
              <a:t>assets/ (可选) - 模板/资源文件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内置 Skills (54 个)：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- GitHub 操作</a:t>
            </a:r>
          </a:p>
          <a:p>
            <a:pPr lvl="1">
              <a:spcAft>
                <a:spcPts val="1200"/>
              </a:spcAft>
              <a:defRPr sz="2200"/>
            </a:pPr>
            <a:r>
              <a:t>• weather - 天气查询</a:t>
            </a:r>
          </a:p>
          <a:p>
            <a:pPr lvl="1">
              <a:spcAft>
                <a:spcPts val="1200"/>
              </a:spcAft>
              <a:defRPr sz="2200"/>
            </a:pPr>
            <a:r>
              <a:t>• video-frames - 视频帧提取</a:t>
            </a:r>
          </a:p>
          <a:p>
            <a:pPr lvl="1">
              <a:spcAft>
                <a:spcPts val="1200"/>
              </a:spcAft>
              <a:defRPr sz="2200"/>
            </a:pPr>
            <a:r>
              <a:t>• healthcheck - 系统审计</a:t>
            </a:r>
          </a:p>
          <a:p>
            <a:pPr lvl="1">
              <a:spcAft>
                <a:spcPts val="1200"/>
              </a:spcAft>
              <a:defRPr sz="2200"/>
            </a:pPr>
            <a:r>
              <a:t>• skill-creator - 创建新 Skills</a:t>
            </a:r>
          </a:p>
          <a:p>
            <a:pPr lvl="1">
              <a:spcAft>
                <a:spcPts val="1200"/>
              </a:spcAft>
              <a:defRPr sz="2200"/>
            </a:pPr>
            <a:r>
              <a:t>• 详见：/opt/homebrew/lib/node_modules/openclaw/skills/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Skills 示例：GitHub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---</a:t>
            </a:r>
            <a:br/>
            <a:r>
              <a:t>name: github</a:t>
            </a:r>
            <a:br/>
            <a:r>
              <a:t>description: GitHub operations via gh CLI</a:t>
            </a:r>
            <a:br/>
            <a:r>
              <a:t>---</a:t>
            </a:r>
            <a:br/>
            <a:br/>
            <a:r>
              <a:t># GitHub Skill</a:t>
            </a:r>
            <a:br/>
            <a:br/>
            <a:r>
              <a:t>## When to Use</a:t>
            </a:r>
            <a:br/>
            <a:r>
              <a:t>✅ Checking PR status or CI</a:t>
            </a:r>
            <a:br/>
            <a:r>
              <a:t>✅ Creating/commenting on issues</a:t>
            </a:r>
            <a:br/>
            <a:r>
              <a:t>✅ Viewing run logs</a:t>
            </a:r>
            <a:br/>
            <a:br/>
            <a:r>
              <a:t>## Common Commands</a:t>
            </a:r>
            <a:br/>
            <a:r>
              <a:t># List PRs</a:t>
            </a:r>
            <a:br/>
            <a:r>
              <a:t>gh pr list --repo owner/repo</a:t>
            </a:r>
            <a:br/>
            <a:br/>
            <a:r>
              <a:t># Check CI</a:t>
            </a:r>
            <a:br/>
            <a:r>
              <a:t>gh pr checks 55 --repo owner/repo</a:t>
            </a:r>
            <a:br/>
            <a:br/>
            <a:r>
              <a:t># Create issue</a:t>
            </a:r>
            <a:br/>
            <a:r>
              <a:t>gh issue create --title "Bug" --body "Details"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Skills 通过 SKILL.md 定义触发条件和使用方法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Plugins 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什么是 Plugins？</a:t>
            </a:r>
          </a:p>
          <a:p>
            <a:pPr lvl="1">
              <a:spcAft>
                <a:spcPts val="1200"/>
              </a:spcAft>
              <a:defRPr sz="2200"/>
            </a:pPr>
            <a:r>
              <a:t>• 运行时扩展模块</a:t>
            </a:r>
          </a:p>
          <a:p>
            <a:pPr lvl="1">
              <a:spcAft>
                <a:spcPts val="1200"/>
              </a:spcAft>
              <a:defRPr sz="2200"/>
            </a:pPr>
            <a:r>
              <a:t>• 添加新渠道/工具/服务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Plugins 能力：</a:t>
            </a:r>
          </a:p>
          <a:p>
            <a:pPr lvl="1">
              <a:spcAft>
                <a:spcPts val="1200"/>
              </a:spcAft>
              <a:defRPr sz="2200"/>
            </a:pPr>
            <a:r>
              <a:t>• 注册新渠道 (如 QQ Bot、飞书)</a:t>
            </a:r>
          </a:p>
          <a:p>
            <a:pPr lvl="1">
              <a:spcAft>
                <a:spcPts val="1200"/>
              </a:spcAft>
              <a:defRPr sz="2200"/>
            </a:pPr>
            <a:r>
              <a:t>• 添加工具 (Agent Tools)</a:t>
            </a:r>
          </a:p>
          <a:p>
            <a:pPr lvl="1">
              <a:spcAft>
                <a:spcPts val="1200"/>
              </a:spcAft>
              <a:defRPr sz="2200"/>
            </a:pPr>
            <a:r>
              <a:t>• 注册 CLI 命令</a:t>
            </a:r>
          </a:p>
          <a:p>
            <a:pPr lvl="1">
              <a:spcAft>
                <a:spcPts val="1200"/>
              </a:spcAft>
              <a:defRPr sz="2200"/>
            </a:pPr>
            <a:r>
              <a:t>• HTTP/RPC 服务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官方 Plugins：</a:t>
            </a:r>
          </a:p>
          <a:p>
            <a:pPr lvl="1">
              <a:spcAft>
                <a:spcPts val="1200"/>
              </a:spcAft>
              <a:defRPr sz="2200"/>
            </a:pPr>
            <a:r>
              <a:t>• @openclaw/voice-call - 语音通话</a:t>
            </a:r>
          </a:p>
          <a:p>
            <a:pPr lvl="1">
              <a:spcAft>
                <a:spcPts val="1200"/>
              </a:spcAft>
              <a:defRPr sz="2200"/>
            </a:pPr>
            <a:r>
              <a:t>• @openclaw/msteams - Microsoft Teams</a:t>
            </a:r>
          </a:p>
          <a:p>
            <a:pPr lvl="1">
              <a:spcAft>
                <a:spcPts val="1200"/>
              </a:spcAft>
              <a:defRPr sz="2200"/>
            </a:pPr>
            <a:r>
              <a:t>• @openclaw/matrix - Matrix 协议</a:t>
            </a:r>
          </a:p>
          <a:p>
            <a:pPr lvl="1">
              <a:spcAft>
                <a:spcPts val="1200"/>
              </a:spcAft>
              <a:defRPr sz="2200"/>
            </a:pPr>
            <a:r>
              <a:t>• @openclaw/zalo - Zalo (越南)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安装：openclaw plugins install @openclaw/voice-call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 渠道支持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官方支持 (20+)：</a:t>
            </a:r>
          </a:p>
          <a:p>
            <a:pPr lvl="1">
              <a:spcAft>
                <a:spcPts val="1200"/>
              </a:spcAft>
              <a:defRPr sz="2200"/>
            </a:pPr>
            <a:r>
              <a:t>• WhatsApp (WhatsApp Cloud API)</a:t>
            </a:r>
          </a:p>
          <a:p>
            <a:pPr lvl="1">
              <a:spcAft>
                <a:spcPts val="1200"/>
              </a:spcAft>
              <a:defRPr sz="2200"/>
            </a:pPr>
            <a:r>
              <a:t>• Telegram (Bot API)</a:t>
            </a:r>
          </a:p>
          <a:p>
            <a:pPr lvl="1">
              <a:spcAft>
                <a:spcPts val="1200"/>
              </a:spcAft>
              <a:defRPr sz="2200"/>
            </a:pPr>
            <a:r>
              <a:t>• Discord (Bot)</a:t>
            </a:r>
          </a:p>
          <a:p>
            <a:pPr lvl="1">
              <a:spcAft>
                <a:spcPts val="1200"/>
              </a:spcAft>
              <a:defRPr sz="2200"/>
            </a:pPr>
            <a:r>
              <a:t>• iMessage (BlueBubbles/Android)</a:t>
            </a:r>
          </a:p>
          <a:p>
            <a:pPr lvl="1">
              <a:spcAft>
                <a:spcPts val="1200"/>
              </a:spcAft>
              <a:defRPr sz="2200"/>
            </a:pPr>
            <a:r>
              <a:t>• Signal (信号桥接)</a:t>
            </a:r>
          </a:p>
          <a:p>
            <a:pPr lvl="1">
              <a:spcAft>
                <a:spcPts val="1200"/>
              </a:spcAft>
              <a:defRPr sz="2200"/>
            </a:pPr>
            <a:r>
              <a:t>• Slack (Bot)</a:t>
            </a:r>
          </a:p>
          <a:p>
            <a:pPr lvl="1">
              <a:spcAft>
                <a:spcPts val="1200"/>
              </a:spcAft>
              <a:defRPr sz="2200"/>
            </a:pPr>
            <a:r>
              <a:t>• Google Chat</a:t>
            </a:r>
          </a:p>
          <a:p>
            <a:pPr lvl="1">
              <a:spcAft>
                <a:spcPts val="1200"/>
              </a:spcAft>
              <a:defRPr sz="2200"/>
            </a:pPr>
            <a:r>
              <a:t>• Microsoft Teams (插件)</a:t>
            </a:r>
          </a:p>
          <a:p>
            <a:pPr lvl="1">
              <a:spcAft>
                <a:spcPts val="1200"/>
              </a:spcAft>
              <a:defRPr sz="2200"/>
            </a:pPr>
            <a:r>
              <a:t>• IRC</a:t>
            </a:r>
          </a:p>
          <a:p>
            <a:pPr lvl="1">
              <a:spcAft>
                <a:spcPts val="1200"/>
              </a:spcAft>
              <a:defRPr sz="2200"/>
            </a:pPr>
            <a:r>
              <a:t>• Mattermost (插件)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插件扩展：</a:t>
            </a:r>
          </a:p>
          <a:p>
            <a:pPr lvl="1">
              <a:spcAft>
                <a:spcPts val="1200"/>
              </a:spcAft>
              <a:defRPr sz="2200"/>
            </a:pPr>
            <a:r>
              <a:t>• QQ Bot (@sliverp/qqbot)</a:t>
            </a:r>
          </a:p>
          <a:p>
            <a:pPr lvl="1">
              <a:spcAft>
                <a:spcPts val="1200"/>
              </a:spcAft>
              <a:defRPr sz="2200"/>
            </a:pPr>
            <a:r>
              <a:t>• 微信 (WeChat)</a:t>
            </a:r>
          </a:p>
          <a:p>
            <a:pPr lvl="1">
              <a:spcAft>
                <a:spcPts val="1200"/>
              </a:spcAft>
              <a:defRPr sz="2200"/>
            </a:pPr>
            <a:r>
              <a:t>• 飞书 (Feishu)</a:t>
            </a:r>
          </a:p>
          <a:p>
            <a:pPr lvl="1">
              <a:spcAft>
                <a:spcPts val="1200"/>
              </a:spcAft>
              <a:defRPr sz="2200"/>
            </a:pPr>
            <a:r>
              <a:t>• 钉钉 (DingTalk)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配置示例：</a:t>
            </a:r>
          </a:p>
          <a:p>
            <a:pPr lvl="1">
              <a:spcAft>
                <a:spcPts val="1200"/>
              </a:spcAft>
              <a:defRPr sz="2200"/>
            </a:pPr>
            <a:r>
              <a:t>channels.telegram.enabled: true</a:t>
            </a:r>
          </a:p>
          <a:p>
            <a:pPr lvl="1">
              <a:spcAft>
                <a:spcPts val="1200"/>
              </a:spcAft>
              <a:defRPr sz="2200"/>
            </a:pPr>
            <a:r>
              <a:t>channels.telegram.botToken: "xxx"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Gateway 网关服务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核心职责：</a:t>
            </a:r>
          </a:p>
          <a:p>
            <a:pPr lvl="1">
              <a:spcAft>
                <a:spcPts val="1200"/>
              </a:spcAft>
              <a:defRPr sz="2200"/>
            </a:pPr>
            <a:r>
              <a:t>• 消息路由和分发</a:t>
            </a:r>
          </a:p>
          <a:p>
            <a:pPr lvl="1">
              <a:spcAft>
                <a:spcPts val="1200"/>
              </a:spcAft>
              <a:defRPr sz="2200"/>
            </a:pPr>
            <a:r>
              <a:t>• 会话状态管理</a:t>
            </a:r>
          </a:p>
          <a:p>
            <a:pPr lvl="1">
              <a:spcAft>
                <a:spcPts val="1200"/>
              </a:spcAft>
              <a:defRPr sz="2200"/>
            </a:pPr>
            <a:r>
              <a:t>• 认证和授权</a:t>
            </a:r>
          </a:p>
          <a:p>
            <a:pPr lvl="1">
              <a:spcAft>
                <a:spcPts val="1200"/>
              </a:spcAft>
              <a:defRPr sz="2200"/>
            </a:pPr>
            <a:r>
              <a:t>• 配置热加载</a:t>
            </a:r>
          </a:p>
          <a:p>
            <a:pPr lvl="1">
              <a:spcAft>
                <a:spcPts val="1200"/>
              </a:spcAft>
              <a:defRPr sz="2200"/>
            </a:pPr>
            <a:r>
              <a:t>• 日志和监控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运行模式：</a:t>
            </a:r>
          </a:p>
          <a:p>
            <a:pPr lvl="1">
              <a:spcAft>
                <a:spcPts val="1200"/>
              </a:spcAft>
              <a:defRPr sz="2200"/>
            </a:pPr>
            <a:r>
              <a:t>• 单进程多路复用</a:t>
            </a:r>
          </a:p>
          <a:p>
            <a:pPr lvl="1">
              <a:spcAft>
                <a:spcPts val="1200"/>
              </a:spcAft>
              <a:defRPr sz="2200"/>
            </a:pPr>
            <a:r>
              <a:t>• WebSocket + HTTP API</a:t>
            </a:r>
          </a:p>
          <a:p>
            <a:pPr lvl="1">
              <a:spcAft>
                <a:spcPts val="1200"/>
              </a:spcAft>
              <a:defRPr sz="2200"/>
            </a:pPr>
            <a:r>
              <a:t>• 默认端口：18789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高可用：</a:t>
            </a:r>
          </a:p>
          <a:p>
            <a:pPr lvl="1">
              <a:spcAft>
                <a:spcPts val="1200"/>
              </a:spcAft>
              <a:defRPr sz="2200"/>
            </a:pPr>
            <a:r>
              <a:t>• 配置热重载 (hybrid 模式)</a:t>
            </a:r>
          </a:p>
          <a:p>
            <a:pPr lvl="1">
              <a:spcAft>
                <a:spcPts val="1200"/>
              </a:spcAft>
              <a:defRPr sz="2200"/>
            </a:pPr>
            <a:r>
              <a:t>• 会话持久化</a:t>
            </a:r>
          </a:p>
          <a:p>
            <a:pPr lvl="1">
              <a:spcAft>
                <a:spcPts val="1200"/>
              </a:spcAft>
              <a:defRPr sz="2200"/>
            </a:pPr>
            <a:r>
              <a:t>• 支持 Tailscale 组网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启动：openclaw gateway --port 18789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Quick Start 与常用命令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分钟快速开始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1. 安装 OpenClaw</a:t>
            </a:r>
          </a:p>
          <a:p>
            <a:pPr lvl="1">
              <a:spcAft>
                <a:spcPts val="1200"/>
              </a:spcAft>
              <a:defRPr sz="2200"/>
            </a:pPr>
            <a:r>
              <a:t>npm install -g openclaw@latest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2. 运行引导向导</a:t>
            </a:r>
          </a:p>
          <a:p>
            <a:pPr lvl="1">
              <a:spcAft>
                <a:spcPts val="1200"/>
              </a:spcAft>
              <a:defRPr sz="2200"/>
            </a:pPr>
            <a:r>
              <a:t>openclaw onboard --install-daemon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3. 登录渠道</a:t>
            </a:r>
          </a:p>
          <a:p>
            <a:pPr lvl="1">
              <a:spcAft>
                <a:spcPts val="1200"/>
              </a:spcAft>
              <a:defRPr sz="2200"/>
            </a:pPr>
            <a:r>
              <a:t>openclaw channels login whatsapp</a:t>
            </a:r>
          </a:p>
          <a:p>
            <a:pPr lvl="1">
              <a:spcAft>
                <a:spcPts val="1200"/>
              </a:spcAft>
              <a:defRPr sz="2200"/>
            </a:pPr>
            <a:r>
              <a:t>(扫码或配置 Token)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4. 启动网关</a:t>
            </a:r>
          </a:p>
          <a:p>
            <a:pPr lvl="1">
              <a:spcAft>
                <a:spcPts val="1200"/>
              </a:spcAft>
              <a:defRPr sz="2200"/>
            </a:pPr>
            <a:r>
              <a:t>openclaw gateway --port 18789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5. 打开 Control UI</a:t>
            </a:r>
          </a:p>
          <a:p>
            <a:pPr lvl="1">
              <a:spcAft>
                <a:spcPts val="1200"/>
              </a:spcAft>
              <a:defRPr sz="2200"/>
            </a:pPr>
            <a:r>
              <a:t>http://127.0.0.1:18789/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完成！现在可以通过聊天应用对话了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常用命令速查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# 安装与配置</a:t>
            </a:r>
            <a:br/>
            <a:r>
              <a:t>npm install -g openclaw@latest</a:t>
            </a:r>
            <a:br/>
            <a:r>
              <a:t>openclaw onboard              # 引导向导</a:t>
            </a:r>
            <a:br/>
            <a:r>
              <a:t>openclaw configure            # 配置向导</a:t>
            </a:r>
            <a:br/>
            <a:br/>
            <a:r>
              <a:t># 网关管理</a:t>
            </a:r>
            <a:br/>
            <a:r>
              <a:t>openclaw gateway              # 启动网关</a:t>
            </a:r>
            <a:br/>
            <a:r>
              <a:t>openclaw gateway status       # 查看状态</a:t>
            </a:r>
            <a:br/>
            <a:r>
              <a:t>openclaw gateway restart      # 重启</a:t>
            </a:r>
            <a:br/>
            <a:r>
              <a:t>openclaw logs --follow        # 查看日志</a:t>
            </a:r>
            <a:br/>
            <a:br/>
            <a:r>
              <a:t># 渠道管理</a:t>
            </a:r>
            <a:br/>
            <a:r>
              <a:t>openclaw channels status      # 渠道状态</a:t>
            </a:r>
            <a:br/>
            <a:r>
              <a:t>openclaw channels login       # 登录渠道</a:t>
            </a:r>
            <a:br/>
            <a:r>
              <a:t>openclaw pairing list         # 查看配对</a:t>
            </a:r>
            <a:br/>
            <a:br/>
            <a:r>
              <a:t># 消息发送</a:t>
            </a:r>
            <a:br/>
            <a:r>
              <a:t>openclaw message send --channel telegram -t @username -m "Hello"</a:t>
            </a:r>
            <a:br/>
            <a:br/>
            <a:r>
              <a:t># 插件管理</a:t>
            </a:r>
            <a:br/>
            <a:r>
              <a:t>openclaw plugins list</a:t>
            </a:r>
            <a:br/>
            <a:r>
              <a:t>openclaw plugins install @openclaw/voice-call</a:t>
            </a:r>
            <a:br/>
            <a:br/>
            <a:r>
              <a:t># 技能管理</a:t>
            </a:r>
            <a:br/>
            <a:r>
              <a:t>openclaw skills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掌握这些命令即可日常使用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配置文件 (~/.openclaw/openclaw.json)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{</a:t>
            </a:r>
            <a:br/>
            <a:r>
              <a:t>  "channels": {</a:t>
            </a:r>
            <a:br/>
            <a:r>
              <a:t>    "telegram": {</a:t>
            </a:r>
            <a:br/>
            <a:r>
              <a:t>      "enabled": true,</a:t>
            </a:r>
            <a:br/>
            <a:r>
              <a:t>      "botToken": "123:abc",</a:t>
            </a:r>
            <a:br/>
            <a:r>
              <a:t>      "dmPolicy": "pairing",</a:t>
            </a:r>
            <a:br/>
            <a:r>
              <a:t>      "groups": { "*": { "requireMention": true } }</a:t>
            </a:r>
            <a:br/>
            <a:r>
              <a:t>    },</a:t>
            </a:r>
            <a:br/>
            <a:r>
              <a:t>    "whatsapp": {</a:t>
            </a:r>
            <a:br/>
            <a:r>
              <a:t>      "enabled": true,</a:t>
            </a:r>
            <a:br/>
            <a:r>
              <a:t>      "allowFrom": ["+8613800138000"]</a:t>
            </a:r>
            <a:br/>
            <a:r>
              <a:t>    }</a:t>
            </a:r>
            <a:br/>
            <a:r>
              <a:t>  },</a:t>
            </a:r>
            <a:br/>
            <a:r>
              <a:t>  "agents": {</a:t>
            </a:r>
            <a:br/>
            <a:r>
              <a:t>    "defaults": {</a:t>
            </a:r>
            <a:br/>
            <a:r>
              <a:t>      "model": { "primary": "qwen3.5-plus" }</a:t>
            </a:r>
            <a:br/>
            <a:r>
              <a:t>    }</a:t>
            </a:r>
            <a:br/>
            <a:r>
              <a:t>  },</a:t>
            </a:r>
            <a:br/>
            <a:r>
              <a:t>  "gateway": {</a:t>
            </a:r>
            <a:br/>
            <a:r>
              <a:t>    "port": 18789,</a:t>
            </a:r>
            <a:br/>
            <a:r>
              <a:t>    "auth": { "mode": "token"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配置文件支持热重载，修改后自动生效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实战案例分享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 1：个人 AI 助理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场景：通过微信/Telegram 随时与 AI 对话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配置：</a:t>
            </a:r>
          </a:p>
          <a:p>
            <a:pPr lvl="1">
              <a:spcAft>
                <a:spcPts val="1200"/>
              </a:spcAft>
              <a:defRPr sz="2200"/>
            </a:pPr>
            <a:r>
              <a:t>• 渠道：Telegram (Bot API)</a:t>
            </a:r>
          </a:p>
          <a:p>
            <a:pPr lvl="1">
              <a:spcAft>
                <a:spcPts val="1200"/>
              </a:spcAft>
              <a:defRPr sz="2200"/>
            </a:pPr>
            <a:r>
              <a:t>• 访问控制：allowFrom 白名单</a:t>
            </a:r>
          </a:p>
          <a:p>
            <a:pPr lvl="1">
              <a:spcAft>
                <a:spcPts val="1200"/>
              </a:spcAft>
              <a:defRPr sz="2200"/>
            </a:pPr>
            <a:r>
              <a:t>• 模型：qwen3.5-plus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功能：</a:t>
            </a:r>
          </a:p>
          <a:p>
            <a:pPr lvl="1">
              <a:spcAft>
                <a:spcPts val="1200"/>
              </a:spcAft>
              <a:defRPr sz="2200"/>
            </a:pPr>
            <a:r>
              <a:t>• 日常问答</a:t>
            </a:r>
          </a:p>
          <a:p>
            <a:pPr lvl="1">
              <a:spcAft>
                <a:spcPts val="1200"/>
              </a:spcAft>
              <a:defRPr sz="2200"/>
            </a:pPr>
            <a:r>
              <a:t>• 代码审查</a:t>
            </a:r>
          </a:p>
          <a:p>
            <a:pPr lvl="1">
              <a:spcAft>
                <a:spcPts val="1200"/>
              </a:spcAft>
              <a:defRPr sz="2200"/>
            </a:pPr>
            <a:r>
              <a:t>• 文档写作</a:t>
            </a:r>
          </a:p>
          <a:p>
            <a:pPr lvl="1">
              <a:spcAft>
                <a:spcPts val="1200"/>
              </a:spcAft>
              <a:defRPr sz="2200"/>
            </a:pPr>
            <a:r>
              <a:t>• 日程提醒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效果：</a:t>
            </a:r>
          </a:p>
          <a:p>
            <a:pPr lvl="1">
              <a:spcAft>
                <a:spcPts val="1200"/>
              </a:spcAft>
              <a:defRPr sz="2200"/>
            </a:pPr>
            <a:r>
              <a:t>• 5 分钟搭建完成</a:t>
            </a:r>
          </a:p>
          <a:p>
            <a:pPr lvl="1">
              <a:spcAft>
                <a:spcPts val="1200"/>
              </a:spcAft>
              <a:defRPr sz="2200"/>
            </a:pPr>
            <a:r>
              <a:t>• 数据完全本地</a:t>
            </a:r>
          </a:p>
          <a:p>
            <a:pPr lvl="1">
              <a:spcAft>
                <a:spcPts val="1200"/>
              </a:spcAft>
              <a:defRPr sz="2200"/>
            </a:pPr>
            <a:r>
              <a:t>• 响应速度 &lt; 3 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 2：团队协作用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场景：Slack 团队助手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配置：</a:t>
            </a:r>
          </a:p>
          <a:p>
            <a:pPr lvl="1">
              <a:spcAft>
                <a:spcPts val="1200"/>
              </a:spcAft>
              <a:defRPr sz="2200"/>
            </a:pPr>
            <a:r>
              <a:t>• 渠道：Slack Bot</a:t>
            </a:r>
          </a:p>
          <a:p>
            <a:pPr lvl="1">
              <a:spcAft>
                <a:spcPts val="1200"/>
              </a:spcAft>
              <a:defRPr sz="2200"/>
            </a:pPr>
            <a:r>
              <a:t>• 群组策略：requireMention</a:t>
            </a:r>
          </a:p>
          <a:p>
            <a:pPr lvl="1">
              <a:spcAft>
                <a:spcPts val="1200"/>
              </a:spcAft>
              <a:defRPr sz="2200"/>
            </a:pPr>
            <a:r>
              <a:t>• 多 Agent 路由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功能：</a:t>
            </a:r>
          </a:p>
          <a:p>
            <a:pPr lvl="1">
              <a:spcAft>
                <a:spcPts val="1200"/>
              </a:spcAft>
              <a:defRPr sz="2200"/>
            </a:pPr>
            <a:r>
              <a:t>• 自动回答常见问题</a:t>
            </a:r>
          </a:p>
          <a:p>
            <a:pPr lvl="1">
              <a:spcAft>
                <a:spcPts val="1200"/>
              </a:spcAft>
              <a:defRPr sz="2200"/>
            </a:pPr>
            <a:r>
              <a:t>• 代码片段分享</a:t>
            </a:r>
          </a:p>
          <a:p>
            <a:pPr lvl="1">
              <a:spcAft>
                <a:spcPts val="1200"/>
              </a:spcAft>
              <a:defRPr sz="2200"/>
            </a:pPr>
            <a:r>
              <a:t>• CI/CD状态查询</a:t>
            </a:r>
          </a:p>
          <a:p>
            <a:pPr lvl="1">
              <a:spcAft>
                <a:spcPts val="1200"/>
              </a:spcAft>
              <a:defRPr sz="2200"/>
            </a:pPr>
            <a:r>
              <a:t>• 会议纪要生成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Skills 扩展：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- PR/Issue 管理</a:t>
            </a:r>
          </a:p>
          <a:p>
            <a:pPr lvl="1">
              <a:spcAft>
                <a:spcPts val="1200"/>
              </a:spcAft>
              <a:defRPr sz="2200"/>
            </a:pPr>
            <a:r>
              <a:t>• healthcheck - 系统监控</a:t>
            </a:r>
          </a:p>
          <a:p>
            <a:pPr lvl="1">
              <a:spcAft>
                <a:spcPts val="1200"/>
              </a:spcAft>
              <a:defRPr sz="2200"/>
            </a:pPr>
            <a:r>
              <a:t>• 自定义 - 内部 API 集成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 3：监控告警系统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场景：系统监控 + 告警通知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架构：</a:t>
            </a:r>
          </a:p>
          <a:p>
            <a:pPr lvl="1">
              <a:spcAft>
                <a:spcPts val="1200"/>
              </a:spcAft>
              <a:defRPr sz="2200"/>
            </a:pPr>
            <a:r>
              <a:t>Prometheus → Alertmanager → OpenClaw → Telegram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实现：</a:t>
            </a:r>
          </a:p>
          <a:p>
            <a:pPr lvl="1">
              <a:spcAft>
                <a:spcPts val="1200"/>
              </a:spcAft>
              <a:defRPr sz="2200"/>
            </a:pPr>
            <a:r>
              <a:t>• Webhook 接收告警</a:t>
            </a:r>
          </a:p>
          <a:p>
            <a:pPr lvl="1">
              <a:spcAft>
                <a:spcPts val="1200"/>
              </a:spcAft>
              <a:defRPr sz="2200"/>
            </a:pPr>
            <a:r>
              <a:t>• 自动分类和路由</a:t>
            </a:r>
          </a:p>
          <a:p>
            <a:pPr lvl="1">
              <a:spcAft>
                <a:spcPts val="1200"/>
              </a:spcAft>
              <a:defRPr sz="2200"/>
            </a:pPr>
            <a:r>
              <a:t>• 富文本通知 (带图表)</a:t>
            </a:r>
          </a:p>
          <a:p>
            <a:pPr lvl="1">
              <a:spcAft>
                <a:spcPts val="1200"/>
              </a:spcAft>
              <a:defRPr sz="2200"/>
            </a:pPr>
            <a:r>
              <a:t>• 告警确认和关闭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优势：</a:t>
            </a:r>
          </a:p>
          <a:p>
            <a:pPr lvl="1">
              <a:spcAft>
                <a:spcPts val="1200"/>
              </a:spcAft>
              <a:defRPr sz="2200"/>
            </a:pPr>
            <a:r>
              <a:t>• 多渠道通知 (Telegram/微信/短信)</a:t>
            </a:r>
          </a:p>
          <a:p>
            <a:pPr lvl="1">
              <a:spcAft>
                <a:spcPts val="1200"/>
              </a:spcAft>
              <a:defRPr sz="2200"/>
            </a:pPr>
            <a:r>
              <a:t>• 支持告警升级</a:t>
            </a:r>
          </a:p>
          <a:p>
            <a:pPr lvl="1">
              <a:spcAft>
                <a:spcPts val="1200"/>
              </a:spcAft>
              <a:defRPr sz="2200"/>
            </a:pPr>
            <a:r>
              <a:t>• 历史记录查询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代码量：&lt; 100 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 4：新闻监控推送 (本次演示)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场景：监控今日头条新闻并推送到 QQ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实现：</a:t>
            </a:r>
          </a:p>
          <a:p>
            <a:pPr lvl="1">
              <a:spcAft>
                <a:spcPts val="1200"/>
              </a:spcAft>
              <a:defRPr sz="2200"/>
            </a:pPr>
            <a:r>
              <a:t>• 自定义 Skill: toutiao-news-monitor</a:t>
            </a:r>
          </a:p>
          <a:p>
            <a:pPr lvl="1">
              <a:spcAft>
                <a:spcPts val="1200"/>
              </a:spcAft>
              <a:defRPr sz="2200"/>
            </a:pPr>
            <a:r>
              <a:t>• 浏览器自动化抓取</a:t>
            </a:r>
          </a:p>
          <a:p>
            <a:pPr lvl="1">
              <a:spcAft>
                <a:spcPts val="1200"/>
              </a:spcAft>
              <a:defRPr sz="2200"/>
            </a:pPr>
            <a:r>
              <a:t>• 定时任务 (Cron)</a:t>
            </a:r>
          </a:p>
          <a:p>
            <a:pPr lvl="1">
              <a:spcAft>
                <a:spcPts val="1200"/>
              </a:spcAft>
              <a:defRPr sz="2200"/>
            </a:pPr>
            <a:r>
              <a:t>• QQ Bot 推送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技能结构：</a:t>
            </a:r>
          </a:p>
          <a:p>
            <a:pPr lvl="1">
              <a:spcAft>
                <a:spcPts val="1200"/>
              </a:spcAft>
              <a:defRPr sz="2200"/>
            </a:pPr>
            <a:r>
              <a:t>skills/toutiao-news-monitor/</a:t>
            </a:r>
          </a:p>
          <a:p>
            <a:pPr lvl="1">
              <a:spcAft>
                <a:spcPts val="1200"/>
              </a:spcAft>
              <a:defRPr sz="2200"/>
            </a:pPr>
            <a:r>
              <a:t>├── SKILL.md</a:t>
            </a:r>
          </a:p>
          <a:p>
            <a:pPr lvl="1">
              <a:spcAft>
                <a:spcPts val="1200"/>
              </a:spcAft>
              <a:defRPr sz="2200"/>
            </a:pPr>
            <a:r>
              <a:t>├── scripts/crawl_news.py</a:t>
            </a:r>
          </a:p>
          <a:p>
            <a:pPr lvl="1">
              <a:spcAft>
                <a:spcPts val="1200"/>
              </a:spcAft>
              <a:defRPr sz="2200"/>
            </a:pPr>
            <a:r>
              <a:t>└── data/ (输出)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效果：</a:t>
            </a:r>
          </a:p>
          <a:p>
            <a:pPr lvl="1">
              <a:spcAft>
                <a:spcPts val="1200"/>
              </a:spcAft>
              <a:defRPr sz="2200"/>
            </a:pPr>
            <a:r>
              <a:t>• 每 2 小时自动推送</a:t>
            </a:r>
          </a:p>
          <a:p>
            <a:pPr lvl="1">
              <a:spcAft>
                <a:spcPts val="1200"/>
              </a:spcAft>
              <a:defRPr sz="2200"/>
            </a:pPr>
            <a:r>
              <a:t>• 关键词过滤</a:t>
            </a:r>
          </a:p>
          <a:p>
            <a:pPr lvl="1">
              <a:spcAft>
                <a:spcPts val="1200"/>
              </a:spcAft>
              <a:defRPr sz="2200"/>
            </a:pPr>
            <a:r>
              <a:t>• 数据持久化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未来发展方向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发展路线图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短期 (2026 Q2-Q3)：</a:t>
            </a:r>
          </a:p>
          <a:p>
            <a:pPr lvl="1">
              <a:spcAft>
                <a:spcPts val="1200"/>
              </a:spcAft>
              <a:defRPr sz="2200"/>
            </a:pPr>
            <a:r>
              <a:t>• 更多渠道支持 (Line/KakaoTalk)</a:t>
            </a:r>
          </a:p>
          <a:p>
            <a:pPr lvl="1">
              <a:spcAft>
                <a:spcPts val="1200"/>
              </a:spcAft>
              <a:defRPr sz="2200"/>
            </a:pPr>
            <a:r>
              <a:t>• 改进的 Control UI</a:t>
            </a:r>
          </a:p>
          <a:p>
            <a:pPr lvl="1">
              <a:spcAft>
                <a:spcPts val="1200"/>
              </a:spcAft>
              <a:defRPr sz="2200"/>
            </a:pPr>
            <a:r>
              <a:t>• 性能优化和稳定性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中期 (2026 Q4-2027 Q1)：</a:t>
            </a:r>
          </a:p>
          <a:p>
            <a:pPr lvl="1">
              <a:spcAft>
                <a:spcPts val="1200"/>
              </a:spcAft>
              <a:defRPr sz="2200"/>
            </a:pPr>
            <a:r>
              <a:t>• 多租户支持</a:t>
            </a:r>
          </a:p>
          <a:p>
            <a:pPr lvl="1">
              <a:spcAft>
                <a:spcPts val="1200"/>
              </a:spcAft>
              <a:defRPr sz="2200"/>
            </a:pPr>
            <a:r>
              <a:t>• 企业级权限管理</a:t>
            </a:r>
          </a:p>
          <a:p>
            <a:pPr lvl="1">
              <a:spcAft>
                <a:spcPts val="1200"/>
              </a:spcAft>
              <a:defRPr sz="2200"/>
            </a:pPr>
            <a:r>
              <a:t>• 高级监控和告警</a:t>
            </a:r>
          </a:p>
          <a:p>
            <a:pPr lvl="1">
              <a:spcAft>
                <a:spcPts val="1200"/>
              </a:spcAft>
              <a:defRPr sz="2200"/>
            </a:pPr>
            <a:r>
              <a:t>• 负载均衡和水平扩展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长期愿景：</a:t>
            </a:r>
          </a:p>
          <a:p>
            <a:pPr lvl="1">
              <a:spcAft>
                <a:spcPts val="1200"/>
              </a:spcAft>
              <a:defRPr sz="2200"/>
            </a:pPr>
            <a:r>
              <a:t>• 成为 AI Agent 的标准接入层</a:t>
            </a:r>
          </a:p>
          <a:p>
            <a:pPr lvl="1">
              <a:spcAft>
                <a:spcPts val="1200"/>
              </a:spcAft>
              <a:defRPr sz="2200"/>
            </a:pPr>
            <a:r>
              <a:t>• 构建完整的开发者生态</a:t>
            </a:r>
          </a:p>
          <a:p>
            <a:pPr lvl="1">
              <a:spcAft>
                <a:spcPts val="1200"/>
              </a:spcAft>
              <a:defRPr sz="2200"/>
            </a:pPr>
            <a:r>
              <a:t>• 支持更多 AI 模型和框架</a:t>
            </a:r>
          </a:p>
          <a:p>
            <a:pPr lvl="1">
              <a:spcAft>
                <a:spcPts val="1200"/>
              </a:spcAft>
              <a:defRPr sz="2200"/>
            </a:pPr>
            <a:r>
              <a:t>• 边缘计算和离线能力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如何参与社区贡献？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📝 贡献 Skills</a:t>
            </a:r>
          </a:p>
          <a:p>
            <a:pPr lvl="1">
              <a:spcAft>
                <a:spcPts val="1200"/>
              </a:spcAft>
              <a:defRPr sz="2200"/>
            </a:pPr>
            <a:r>
              <a:t>• 分享你的专业技能</a:t>
            </a:r>
          </a:p>
          <a:p>
            <a:pPr lvl="1">
              <a:spcAft>
                <a:spcPts val="1200"/>
              </a:spcAft>
              <a:defRPr sz="2200"/>
            </a:pPr>
            <a:r>
              <a:t>• 发布到 ClawHub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🔌 开发 Plugins</a:t>
            </a:r>
          </a:p>
          <a:p>
            <a:pPr lvl="1">
              <a:spcAft>
                <a:spcPts val="1200"/>
              </a:spcAft>
              <a:defRPr sz="2200"/>
            </a:pPr>
            <a:r>
              <a:t>• 添加新渠道</a:t>
            </a:r>
          </a:p>
          <a:p>
            <a:pPr lvl="1">
              <a:spcAft>
                <a:spcPts val="1200"/>
              </a:spcAft>
              <a:defRPr sz="2200"/>
            </a:pPr>
            <a:r>
              <a:t>• 集成新服务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🐛 报告 Bug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Issues</a:t>
            </a:r>
          </a:p>
          <a:p>
            <a:pPr lvl="1">
              <a:spcAft>
                <a:spcPts val="1200"/>
              </a:spcAft>
              <a:defRPr sz="2200"/>
            </a:pPr>
            <a:r>
              <a:t>• Discord 社区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📚 改进文档</a:t>
            </a:r>
          </a:p>
          <a:p>
            <a:pPr lvl="1">
              <a:spcAft>
                <a:spcPts val="1200"/>
              </a:spcAft>
              <a:defRPr sz="2200"/>
            </a:pPr>
            <a:r>
              <a:t>• 翻译</a:t>
            </a:r>
          </a:p>
          <a:p>
            <a:pPr lvl="1">
              <a:spcAft>
                <a:spcPts val="1200"/>
              </a:spcAft>
              <a:defRPr sz="2200"/>
            </a:pPr>
            <a:r>
              <a:t>• 补充示例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💡 提出建议</a:t>
            </a:r>
          </a:p>
          <a:p>
            <a:pPr lvl="1">
              <a:spcAft>
                <a:spcPts val="1200"/>
              </a:spcAft>
              <a:defRPr sz="2200"/>
            </a:pPr>
            <a:r>
              <a:t>• Feature Requests</a:t>
            </a:r>
          </a:p>
          <a:p>
            <a:pPr lvl="1">
              <a:spcAft>
                <a:spcPts val="1200"/>
              </a:spcAft>
              <a:defRPr sz="2200"/>
            </a:pPr>
            <a:r>
              <a:t>• 技术方案讨论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8. 参考文档与资源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官方文档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📖 核心文档</a:t>
            </a:r>
          </a:p>
          <a:p>
            <a:pPr lvl="1">
              <a:spcAft>
                <a:spcPts val="1200"/>
              </a:spcAft>
              <a:defRPr sz="2200"/>
            </a:pPr>
            <a:r>
              <a:t>• 官网：https://docs.openclaw.ai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GitHub: github.com/openclaw/openclaw</a:t>
            </a:r>
          </a:p>
          <a:p>
            <a:pPr lvl="1">
              <a:spcAft>
                <a:spcPts val="1200"/>
              </a:spcAft>
              <a:defRPr sz="2200"/>
            </a:pPr>
            <a:r>
              <a:t>• 本地文档：/opt/homebrew/lib/node_modules/openclaw/docs/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🎯 快速开始</a:t>
            </a:r>
          </a:p>
          <a:p>
            <a:pPr lvl="1">
              <a:spcAft>
                <a:spcPts val="1200"/>
              </a:spcAft>
              <a:defRPr sz="2200"/>
            </a:pPr>
            <a:r>
              <a:t>• /start/getting-started</a:t>
            </a:r>
          </a:p>
          <a:p>
            <a:pPr lvl="1">
              <a:spcAft>
                <a:spcPts val="1200"/>
              </a:spcAft>
              <a:defRPr sz="2200"/>
            </a:pPr>
            <a:r>
              <a:t>• /start/wizard (引导向导)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📚 深入阅读</a:t>
            </a:r>
          </a:p>
          <a:p>
            <a:pPr lvl="1">
              <a:spcAft>
                <a:spcPts val="1200"/>
              </a:spcAft>
              <a:defRPr sz="2200"/>
            </a:pPr>
            <a:r>
              <a:t>• /gateway/architecture (架构)</a:t>
            </a:r>
          </a:p>
          <a:p>
            <a:pPr lvl="1">
              <a:spcAft>
                <a:spcPts val="1200"/>
              </a:spcAft>
              <a:defRPr sz="2200"/>
            </a:pPr>
            <a:r>
              <a:t>• /channels/ (渠道配置)</a:t>
            </a:r>
          </a:p>
          <a:p>
            <a:pPr lvl="1">
              <a:spcAft>
                <a:spcPts val="1200"/>
              </a:spcAft>
              <a:defRPr sz="2200"/>
            </a:pPr>
            <a:r>
              <a:t>• /tools/skills (Skills 系统)</a:t>
            </a:r>
          </a:p>
          <a:p>
            <a:pPr lvl="1">
              <a:spcAft>
                <a:spcPts val="1200"/>
              </a:spcAft>
              <a:defRPr sz="2200"/>
            </a:pPr>
            <a:r>
              <a:t>• /plugins/ (Plugins 系统)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🔧 故障排查</a:t>
            </a:r>
          </a:p>
          <a:p>
            <a:pPr lvl="1">
              <a:spcAft>
                <a:spcPts val="1200"/>
              </a:spcAft>
              <a:defRPr sz="2200"/>
            </a:pPr>
            <a:r>
              <a:t>• /gateway/troubleshooting</a:t>
            </a:r>
          </a:p>
          <a:p>
            <a:pPr lvl="1">
              <a:spcAft>
                <a:spcPts val="1200"/>
              </a:spcAft>
              <a:defRPr sz="2200"/>
            </a:pPr>
            <a:r>
              <a:t>• /channels/troubleshooting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学习资源与社区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🌐 在线资源</a:t>
            </a:r>
          </a:p>
          <a:p>
            <a:pPr lvl="1">
              <a:spcAft>
                <a:spcPts val="1200"/>
              </a:spcAft>
              <a:defRPr sz="2200"/>
            </a:pPr>
            <a:r>
              <a:t>• 官方文档：docs.openclaw.ai</a:t>
            </a:r>
          </a:p>
          <a:p>
            <a:pPr lvl="1">
              <a:spcAft>
                <a:spcPts val="1200"/>
              </a:spcAft>
              <a:defRPr sz="2200"/>
            </a:pPr>
            <a:r>
              <a:t>• ClawHub 技能市场：clawhub.ai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示例：github.com/openclaw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💬 社区交流</a:t>
            </a:r>
          </a:p>
          <a:p>
            <a:pPr lvl="1">
              <a:spcAft>
                <a:spcPts val="1200"/>
              </a:spcAft>
              <a:defRPr sz="2200"/>
            </a:pPr>
            <a:r>
              <a:t>• Discord: discord.gg/clawd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Discussions</a:t>
            </a:r>
          </a:p>
          <a:p>
            <a:pPr lvl="1">
              <a:spcAft>
                <a:spcPts val="1200"/>
              </a:spcAft>
              <a:defRPr sz="2200"/>
            </a:pPr>
            <a:r>
              <a:t>• 技术博客和教程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📦 优秀 Skills 推荐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- GitHub 操作</a:t>
            </a:r>
          </a:p>
          <a:p>
            <a:pPr lvl="1">
              <a:spcAft>
                <a:spcPts val="1200"/>
              </a:spcAft>
              <a:defRPr sz="2200"/>
            </a:pPr>
            <a:r>
              <a:t>• weather - 天气查询</a:t>
            </a:r>
          </a:p>
          <a:p>
            <a:pPr lvl="1">
              <a:spcAft>
                <a:spcPts val="1200"/>
              </a:spcAft>
              <a:defRPr sz="2200"/>
            </a:pPr>
            <a:r>
              <a:t>• healthcheck - 系统审计</a:t>
            </a:r>
          </a:p>
          <a:p>
            <a:pPr lvl="1">
              <a:spcAft>
                <a:spcPts val="1200"/>
              </a:spcAft>
              <a:defRPr sz="2200"/>
            </a:pPr>
            <a:r>
              <a:t>• coding-agent - 代码编写</a:t>
            </a:r>
          </a:p>
          <a:p>
            <a:pPr lvl="1">
              <a:spcAft>
                <a:spcPts val="1200"/>
              </a:spcAft>
              <a:defRPr sz="2200"/>
            </a:pPr>
            <a:r>
              <a:t>• todo 列表：openclaw skills list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9. 总结与 Q&amp;A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核心价值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🎯 一句话总结</a:t>
            </a:r>
          </a:p>
          <a:p>
            <a:pPr lvl="1">
              <a:spcAft>
                <a:spcPts val="1200"/>
              </a:spcAft>
              <a:defRPr sz="2200"/>
            </a:pPr>
            <a:r>
              <a:t>"自托管的多渠道 AI Agent 网关"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💎 三大优势</a:t>
            </a:r>
          </a:p>
          <a:p>
            <a:pPr lvl="1">
              <a:spcAft>
                <a:spcPts val="1200"/>
              </a:spcAft>
              <a:defRPr sz="2200"/>
            </a:pPr>
            <a:r>
              <a:t>1. 数据自主可控 (自托管)</a:t>
            </a:r>
          </a:p>
          <a:p>
            <a:pPr lvl="1">
              <a:spcAft>
                <a:spcPts val="1200"/>
              </a:spcAft>
              <a:defRPr sz="2200"/>
            </a:pPr>
            <a:r>
              <a:t>2. 一次开发多端复用 (多渠道)</a:t>
            </a:r>
          </a:p>
          <a:p>
            <a:pPr lvl="1">
              <a:spcAft>
                <a:spcPts val="1200"/>
              </a:spcAft>
              <a:defRPr sz="2200"/>
            </a:pPr>
            <a:r>
              <a:t>3. Agent 原生设计 (工具/会话/路由)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🚀 适用场景</a:t>
            </a:r>
          </a:p>
          <a:p>
            <a:pPr lvl="1">
              <a:spcAft>
                <a:spcPts val="1200"/>
              </a:spcAft>
              <a:defRPr sz="2200"/>
            </a:pPr>
            <a:r>
              <a:t>• 个人 AI 助理</a:t>
            </a:r>
          </a:p>
          <a:p>
            <a:pPr lvl="1">
              <a:spcAft>
                <a:spcPts val="1200"/>
              </a:spcAft>
              <a:defRPr sz="2200"/>
            </a:pPr>
            <a:r>
              <a:t>• 团队协作用 Bot</a:t>
            </a:r>
          </a:p>
          <a:p>
            <a:pPr lvl="1">
              <a:spcAft>
                <a:spcPts val="1200"/>
              </a:spcAft>
              <a:defRPr sz="2200"/>
            </a:pPr>
            <a:r>
              <a:t>• 自动化工作流</a:t>
            </a:r>
          </a:p>
          <a:p>
            <a:pPr lvl="1">
              <a:spcAft>
                <a:spcPts val="1200"/>
              </a:spcAft>
              <a:defRPr sz="2200"/>
            </a:pPr>
            <a:r>
              <a:t>• 监控告警系统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🎓 学习建议</a:t>
            </a:r>
          </a:p>
          <a:p>
            <a:pPr lvl="1">
              <a:spcAft>
                <a:spcPts val="1200"/>
              </a:spcAft>
              <a:defRPr sz="2200"/>
            </a:pPr>
            <a:r>
              <a:t>1. 5 分钟快速开始</a:t>
            </a:r>
          </a:p>
          <a:p>
            <a:pPr lvl="1">
              <a:spcAft>
                <a:spcPts val="1200"/>
              </a:spcAft>
              <a:defRPr sz="2200"/>
            </a:pPr>
            <a:r>
              <a:t>2. 配置一个渠道</a:t>
            </a:r>
          </a:p>
          <a:p>
            <a:pPr lvl="1">
              <a:spcAft>
                <a:spcPts val="1200"/>
              </a:spcAft>
              <a:defRPr sz="2200"/>
            </a:pPr>
            <a:r>
              <a:t>3. 尝试内置 Skills</a:t>
            </a:r>
          </a:p>
          <a:p>
            <a:pPr lvl="1">
              <a:spcAft>
                <a:spcPts val="1200"/>
              </a:spcAft>
              <a:defRPr sz="2200"/>
            </a:pPr>
            <a:r>
              <a:t>4. 开发自定义 Skill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现场演示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📱 演示 1：多渠道消息</a:t>
            </a:r>
          </a:p>
          <a:p>
            <a:pPr lvl="1">
              <a:spcAft>
                <a:spcPts val="1200"/>
              </a:spcAft>
              <a:defRPr sz="2200"/>
            </a:pPr>
            <a:r>
              <a:t>• Telegram/微信/QQ 同时接收消息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🔧 演示 2：Skills 使用</a:t>
            </a:r>
          </a:p>
          <a:p>
            <a:pPr lvl="1">
              <a:spcAft>
                <a:spcPts val="1200"/>
              </a:spcAft>
              <a:defRPr sz="2200"/>
            </a:pPr>
            <a:r>
              <a:t>• GitHub 查询</a:t>
            </a:r>
          </a:p>
          <a:p>
            <a:pPr lvl="1">
              <a:spcAft>
                <a:spcPts val="1200"/>
              </a:spcAft>
              <a:defRPr sz="2200"/>
            </a:pPr>
            <a:r>
              <a:t>• 天气查询</a:t>
            </a:r>
          </a:p>
          <a:p>
            <a:pPr lvl="1">
              <a:spcAft>
                <a:spcPts val="1200"/>
              </a:spcAft>
              <a:defRPr sz="2200"/>
            </a:pPr>
            <a:r>
              <a:t>• 新闻监控推送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💻 演示 3：自定义 Skill</a:t>
            </a:r>
          </a:p>
          <a:p>
            <a:pPr lvl="1">
              <a:spcAft>
                <a:spcPts val="1200"/>
              </a:spcAft>
              <a:defRPr sz="2200"/>
            </a:pPr>
            <a:r>
              <a:t>• toutiao-news-monitor</a:t>
            </a:r>
          </a:p>
          <a:p>
            <a:pPr lvl="1">
              <a:spcAft>
                <a:spcPts val="1200"/>
              </a:spcAft>
              <a:defRPr sz="2200"/>
            </a:pPr>
            <a:r>
              <a:t>• 从创建到执行全流程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🎯 演示 4：Control UI</a:t>
            </a:r>
          </a:p>
          <a:p>
            <a:pPr lvl="1">
              <a:spcAft>
                <a:spcPts val="1200"/>
              </a:spcAft>
              <a:defRPr sz="2200"/>
            </a:pPr>
            <a:r>
              <a:t>• Web 界面操作</a:t>
            </a:r>
          </a:p>
          <a:p>
            <a:pPr lvl="1">
              <a:spcAft>
                <a:spcPts val="1200"/>
              </a:spcAft>
              <a:defRPr sz="2200"/>
            </a:pPr>
            <a:r>
              <a:t>• 会话管理</a:t>
            </a:r>
          </a:p>
          <a:p>
            <a:pPr lvl="1">
              <a:spcAft>
                <a:spcPts val="1200"/>
              </a:spcAft>
              <a:defRPr sz="2200"/>
            </a:pPr>
            <a:r>
              <a:t>• 配置修改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 &amp; A</a:t>
            </a:r>
            <a:br/>
            <a:br/>
            <a:r>
              <a:t>谢谢观看！</a:t>
            </a:r>
            <a:br/>
            <a:br/>
            <a:r>
              <a:t>欢迎提问 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